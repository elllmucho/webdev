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858000" cy="6858000"/>
          </a:xfrm>
          <a:prstGeom prst="ellipse">
            <a:avLst/>
          </a:prstGeom>
          <a:solidFill>
            <a:srgbClr val="112A45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822960"/>
            <a:ext cx="4206240" cy="4206240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65760"/>
            <a:ext cx="2011680" cy="201168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CO2  ·  IT 201 – INTERNET PROGRAMMING AND WEB DEVELOPMENT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Fundamentals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&amp; Specificity  ·  Cascade  ·  Box Model  ·  Colors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 ·  Web Fonts  ·  Backgrounds  ·  Borders  ·  Shadows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2011680" cy="0"/>
          </a:xfrm>
          <a:prstGeom prst="line">
            <a:avLst/>
          </a:prstGeom>
          <a:noFill/>
          <a:ln w="31750">
            <a:solidFill>
              <a:srgbClr val="FF8A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BSIT 2nd Year  |  1st Semester  |  Demonstration + Hands-on Laboratory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064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 CO2 — Design and develop well-structured, standards-compliant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 using HTML5 and CSS3 following accessibility and web standards guidelines.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EEF4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83664"/>
            <a:ext cx="457200" cy="45720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&amp; Specificity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EEF4FB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779776"/>
            <a:ext cx="457200" cy="45720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33472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EEF4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675888"/>
            <a:ext cx="457200" cy="45720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529584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EEF4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572000"/>
            <a:ext cx="457200" cy="45720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425696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EEF4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5468112"/>
            <a:ext cx="457200" cy="45720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321808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309360" y="1737360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EEF4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3952" y="1883664"/>
            <a:ext cx="457200" cy="45720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173736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Fonts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309360" y="2633472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EEF4F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3952" y="2779776"/>
            <a:ext cx="457200" cy="45720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73952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2633472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6309360" y="3529584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EEF4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473952" y="3675888"/>
            <a:ext cx="457200" cy="45720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73952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3529584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6309360" y="4425696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EEF4FB"/>
          </a:solidFill>
          <a:ln/>
        </p:spPr>
      </p:sp>
      <p:sp>
        <p:nvSpPr>
          <p:cNvPr id="37" name="Shape 35"/>
          <p:cNvSpPr/>
          <p:nvPr/>
        </p:nvSpPr>
        <p:spPr>
          <a:xfrm>
            <a:off x="6473952" y="4572000"/>
            <a:ext cx="457200" cy="45720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73952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4425696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6309360" y="5321808"/>
            <a:ext cx="5257800" cy="749808"/>
          </a:xfrm>
          <a:prstGeom prst="roundRect">
            <a:avLst>
              <a:gd name="adj" fmla="val 10976"/>
            </a:avLst>
          </a:prstGeom>
          <a:solidFill>
            <a:srgbClr val="EEF4FB"/>
          </a:solidFill>
          <a:ln/>
        </p:spPr>
      </p:sp>
      <p:sp>
        <p:nvSpPr>
          <p:cNvPr id="41" name="Shape 39"/>
          <p:cNvSpPr/>
          <p:nvPr/>
        </p:nvSpPr>
        <p:spPr>
          <a:xfrm>
            <a:off x="6473952" y="5468112"/>
            <a:ext cx="457200" cy="45720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73952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086600" y="5321808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 Profile Card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Will Be Able To…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420624" cy="420624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6916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CSS to HTML using inline, internal, and external methods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420624" cy="420624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6060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element, class, ID, combinator, attribute, and pseudo selectors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75304"/>
            <a:ext cx="420624" cy="420624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5204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specificity and resolve style conflicts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89704"/>
            <a:ext cx="420624" cy="420624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44348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cascade and how inheritance works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04104"/>
            <a:ext cx="420624" cy="420624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404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53492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box model, including box-sizing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746504"/>
            <a:ext cx="420624" cy="420624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16916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color formats: keyword, HEX, RGB(A), HSL(A)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2660904"/>
            <a:ext cx="420624" cy="420624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30568" y="26060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text with core typography properties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575304"/>
            <a:ext cx="420624" cy="420624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35204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custom fonts with @font-face and Google Fonts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4489704"/>
            <a:ext cx="420624" cy="420624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30568" y="44348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backgrounds, gradients, borders, and shadows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5404104"/>
            <a:ext cx="420624" cy="420624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5404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30568" y="53492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styled UI component from scratch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Syntax &amp; How We Apply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= Cascading Style Sheets — it separates presentation (how a page looks) from structure (HTML).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331720"/>
            <a:ext cx="4608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property: value;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property: value;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navy; 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2148840"/>
            <a:ext cx="5623560" cy="457200"/>
          </a:xfrm>
          <a:prstGeom prst="roundRect">
            <a:avLst>
              <a:gd name="adj" fmla="val 14000"/>
            </a:avLst>
          </a:prstGeom>
          <a:solidFill>
            <a:srgbClr val="EEF4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style="color:red;"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— avoid for maintainability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89320" y="2715768"/>
            <a:ext cx="5623560" cy="457200"/>
          </a:xfrm>
          <a:prstGeom prst="roundRect">
            <a:avLst>
              <a:gd name="adj" fmla="val 14000"/>
            </a:avLst>
          </a:prstGeom>
          <a:solidFill>
            <a:srgbClr val="EEF4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715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715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 in &lt;head&gt;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646920" y="2715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single-page demos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3282696"/>
            <a:ext cx="5623560" cy="457200"/>
          </a:xfrm>
          <a:prstGeom prst="roundRect">
            <a:avLst>
              <a:gd name="adj" fmla="val 14000"/>
            </a:avLst>
          </a:prstGeom>
          <a:solidFill>
            <a:srgbClr val="EEF4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2826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32826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rel="stylesheet"&gt;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46920" y="32826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— cacheable &amp; reusable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keep styles in an external .css file linked from &lt;head&gt; — separates concerns and lets the browser cache it.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926080" cy="2926080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2697480" y="2697480"/>
            <a:ext cx="27432" cy="12344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2514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Selectors &amp; Specificity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CSS targets elements — and how conflicts get resolved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Week 7  |  IT 201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Selector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0" y="1664208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E24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16642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margin: 0; 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502920" cy="50292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505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 Element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0" y="2450592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E24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7680" y="245059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line-height: 1.6; }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502920" cy="50292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2369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0" y="3236976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E24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97680" y="32369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 padding: 1rem; }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502920" cy="50292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114800" y="40233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E243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97680" y="40233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#main-nav { ... }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37176"/>
            <a:ext cx="502920" cy="50292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837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8097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114800" y="4809744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0E243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97680" y="48097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h2, h3 { font-family: ... }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86800" y="1645920"/>
            <a:ext cx="2971800" cy="4023360"/>
          </a:xfrm>
          <a:prstGeom prst="roundRect">
            <a:avLst>
              <a:gd name="adj" fmla="val 3077"/>
            </a:avLst>
          </a:prstGeom>
          <a:solidFill>
            <a:srgbClr val="EEF4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1540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21945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classes for reusable styling. Reserve IDs for unique, single-use hooks (and JS/anchor targets), not general styling.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Combinators — Selecting by Relationship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572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0848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 inside A, any depth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755648"/>
            <a:ext cx="5577840" cy="566928"/>
          </a:xfrm>
          <a:prstGeom prst="roundRect">
            <a:avLst>
              <a:gd name="adj" fmla="val 9677"/>
            </a:avLst>
          </a:prstGeom>
          <a:solidFill>
            <a:srgbClr val="0E24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7556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p { 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572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88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&gt; 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770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3136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a direct child of 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2807208"/>
            <a:ext cx="5577840" cy="566928"/>
          </a:xfrm>
          <a:prstGeom prst="roundRect">
            <a:avLst>
              <a:gd name="adj" fmla="val 9677"/>
            </a:avLst>
          </a:prstGeom>
          <a:solidFill>
            <a:srgbClr val="0E24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28072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&gt; p { 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572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840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3822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sibling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4187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immediately after 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3858768"/>
            <a:ext cx="5577840" cy="566928"/>
          </a:xfrm>
          <a:prstGeom prst="roundRect">
            <a:avLst>
              <a:gd name="adj" fmla="val 9677"/>
            </a:avLst>
          </a:prstGeom>
          <a:solidFill>
            <a:srgbClr val="0E243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3858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+ p { 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572B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892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~ B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2606040" y="48737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sibling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5239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 after A, same parent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4910328"/>
            <a:ext cx="5577840" cy="566928"/>
          </a:xfrm>
          <a:prstGeom prst="roundRect">
            <a:avLst>
              <a:gd name="adj" fmla="val 9677"/>
            </a:avLst>
          </a:prstGeom>
          <a:solidFill>
            <a:srgbClr val="0E24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63640" y="49103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~ p { }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Selectors &amp; Pseudo-Classes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EEF4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Selectors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78992" y="2468880"/>
            <a:ext cx="4242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input[type="text"] {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a[href^="https"] {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a[href$=".pdf"] {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img[alt] { }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^= starts with   $= ends with   *= contains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623560" cy="4023360"/>
          </a:xfrm>
          <a:prstGeom prst="roundRect">
            <a:avLst>
              <a:gd name="adj" fmla="val 2273"/>
            </a:avLst>
          </a:prstGeom>
          <a:solidFill>
            <a:srgbClr val="EEF4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Pseudo-Classes — Element in a State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65392" y="2468880"/>
            <a:ext cx="46085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 { color: orange;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input:focus { outline: 2px solid;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li:first-child { margin-top: 0;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li:last-child { margin-bottom: 0;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tr:nth-child(2n) { background: #f5f5f5;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button:not(.disabled) { cursor: pointer; }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Pseudo-Elements — Styling a Part of an Element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.quote::before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content: "\201C";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#FF8A3D;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2rem;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::before / ::after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insert generated content before/after an element's content (icons, quote marks, clearfix hacks).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EEF4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visually: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246888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0" y="2377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7889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design is invisible.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1148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::first-line and ::first-letter are also common for editorial / magazine-style typography.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Wins? The Specificity Hierarchy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0" y="178308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0B4A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9184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783080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style="color:red;"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2651760"/>
            <a:ext cx="6309360" cy="566928"/>
          </a:xfrm>
          <a:prstGeom prst="roundRect">
            <a:avLst>
              <a:gd name="adj" fmla="val 9677"/>
            </a:avLst>
          </a:prstGeom>
          <a:solidFill>
            <a:srgbClr val="15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91840" y="26517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selector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65176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 { 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352044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3E8FC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91840" y="3520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204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Attribute / Pseudo-class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520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/ [type] / :hover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438912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8FC3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91840" y="43891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891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/ Pseudo-element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3891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/ ::before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 overrides normal specificity entirely — powerful, but makes styles hard to override later. Use sparingly.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Calculating Specificity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65960"/>
            <a:ext cx="10552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#nav .item a:hover { color: orange; }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#nav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86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30632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3756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3566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class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3886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30632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566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pseudo-class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886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915400" y="30632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1540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3566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element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3886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A1B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7091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specificity = 100 + 10 + 10 + 1 = 121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926080" cy="2926080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2697480" y="2697480"/>
            <a:ext cx="27432" cy="12344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2514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Cascade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browser picks a winner when rules conflict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Week 7  |  IT 201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of Precedence When Rules Conflict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EEF4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&amp; Importance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!important &gt; author !important &gt; author styles &gt; user styles &gt; browser default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33088" y="3429000"/>
            <a:ext cx="146304" cy="274320"/>
          </a:xfrm>
          <a:prstGeom prst="chevron">
            <a:avLst/>
          </a:prstGeom>
          <a:solidFill>
            <a:srgbClr val="5B6E85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572B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240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26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6118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specificity wins (inline &gt; ID &gt; class &gt; element)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82128" y="3429000"/>
            <a:ext cx="146304" cy="274320"/>
          </a:xfrm>
          <a:prstGeom prst="chevron">
            <a:avLst/>
          </a:prstGeom>
          <a:solidFill>
            <a:srgbClr val="5B6E85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EEF4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2240280"/>
            <a:ext cx="548640" cy="548640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926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Order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6118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specificity ties, the last rule declared wins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&amp; Special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EEF4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by default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color, font-family, font-size,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line-height, text-align, visibility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inherited by default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margin, padding, border,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background, width, height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8105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1214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this property to take its parent's computed 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724912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27980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108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property to the CSS spec's default value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712464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37856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unset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0965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inherit if the property normally inherits, else initial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4700016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4773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508406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to the browser's built-in (user-agent) stylesheet 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926080" cy="2926080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2697480" y="2697480"/>
            <a:ext cx="27432" cy="12344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2514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Box Model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a box: content, padding, border, margin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Week 7  |  IT 201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→ Padding → Border → Margin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06240" y="1737360"/>
            <a:ext cx="5852160" cy="4114800"/>
          </a:xfrm>
          <a:prstGeom prst="rect">
            <a:avLst/>
          </a:prstGeom>
          <a:solidFill>
            <a:srgbClr val="FDEFE3"/>
          </a:solidFill>
          <a:ln w="12700">
            <a:solidFill>
              <a:srgbClr val="F0C596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343400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2194560"/>
            <a:ext cx="4937760" cy="3200400"/>
          </a:xfrm>
          <a:prstGeom prst="rect">
            <a:avLst/>
          </a:prstGeom>
          <a:solidFill>
            <a:srgbClr val="F4E7C9"/>
          </a:solidFill>
          <a:ln w="38100">
            <a:solidFill>
              <a:srgbClr val="1572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74920" y="2606040"/>
            <a:ext cx="4114800" cy="2377440"/>
          </a:xfrm>
          <a:prstGeom prst="rect">
            <a:avLst/>
          </a:prstGeom>
          <a:solidFill>
            <a:srgbClr val="DCE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1208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23560" y="3154680"/>
            <a:ext cx="3017520" cy="1280160"/>
          </a:xfrm>
          <a:prstGeom prst="rect">
            <a:avLst/>
          </a:prstGeom>
          <a:solidFill>
            <a:srgbClr val="1572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23560" y="31546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2037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 height — the actual text, image, etc.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1181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content and the border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0325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around the padding (width, style, color)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9469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this box and neighboring elements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box-sizing: content-box vs border-box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content-box  (default)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2468880"/>
          </a:xfrm>
          <a:prstGeom prst="rect">
            <a:avLst/>
          </a:prstGeom>
          <a:solidFill>
            <a:srgbClr val="FDEFE3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606040"/>
            <a:ext cx="4297680" cy="1554480"/>
          </a:xfrm>
          <a:prstGeom prst="rect">
            <a:avLst/>
          </a:prstGeom>
          <a:solidFill>
            <a:srgbClr val="1572B6"/>
          </a:solidFill>
          <a:ln w="25400">
            <a:solidFill>
              <a:srgbClr val="0B4A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300px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(content only)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width = 300 + padding + border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6916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border-box  (recommended)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5349240" cy="2468880"/>
          </a:xfrm>
          <a:prstGeom prst="rect">
            <a:avLst/>
          </a:prstGeom>
          <a:solidFill>
            <a:srgbClr val="DCEA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148840"/>
            <a:ext cx="5349240" cy="2468880"/>
          </a:xfrm>
          <a:prstGeom prst="rect">
            <a:avLst/>
          </a:prstGeom>
          <a:solidFill>
            <a:srgbClr val="1572B6"/>
          </a:solidFill>
          <a:ln w="25400">
            <a:solidFill>
              <a:srgbClr val="0B4A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148840"/>
            <a:ext cx="5349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300px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(includes padding + border)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7091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width stays 300px — padding/border eat into the content area instead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" y="5440680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*, *::before, *::after { box-sizing: border-box; }   /* common reset — predictable sizing */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Collapsing &amp; Inspecting the Box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EEF4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Collapsing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block elements stack vertically, their top/bottom margins can overlap and collapse into a single margin — equal to the larger of the two, not the sum.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" y="3611880"/>
            <a:ext cx="4480560" cy="548640"/>
          </a:xfrm>
          <a:prstGeom prst="rect">
            <a:avLst/>
          </a:prstGeom>
          <a:solidFill>
            <a:srgbClr val="1572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margin-bottom: 40px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87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40px (not 70px)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4480560"/>
            <a:ext cx="4480560" cy="548640"/>
          </a:xfrm>
          <a:prstGeom prst="rect">
            <a:avLst/>
          </a:prstGeom>
          <a:solidFill>
            <a:srgbClr val="0B4A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4805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margin-top: 30px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0A1B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Tip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317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any element → Inspect → the Elements panel's Computed tab shows a live box-model diagram with real pixel values for content, padding, border, and margin.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4805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debug unexpected spacing before changing any CSS.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926080" cy="2926080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2697480" y="2697480"/>
            <a:ext cx="27432" cy="12344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2514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describe the same color in CSS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Week 7  |  IT 201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Color Formats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4682B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A1B2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325880" y="176479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566160" y="178308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0E24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4904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steelblue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548640" cy="548640"/>
          </a:xfrm>
          <a:prstGeom prst="ellipse">
            <a:avLst/>
          </a:prstGeom>
          <a:solidFill>
            <a:srgbClr val="4682B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A1B2E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325880" y="2551176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566160" y="2569464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0E24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49040" y="25694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#4682B4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55848"/>
            <a:ext cx="548640" cy="548640"/>
          </a:xfrm>
          <a:prstGeom prst="ellipse">
            <a:avLst/>
          </a:prstGeom>
          <a:solidFill>
            <a:srgbClr val="4682B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A1B2E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325880" y="333756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566160" y="3355848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0E243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49040" y="33558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rgb(70, 130, 180)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548640" cy="548640"/>
          </a:xfrm>
          <a:prstGeom prst="ellipse">
            <a:avLst/>
          </a:prstGeom>
          <a:solidFill>
            <a:srgbClr val="4682B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A1B2E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325880" y="412394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566160" y="4142232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0E24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49040" y="41422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rgba(70, 130, 180, 0.6)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928616"/>
            <a:ext cx="548640" cy="548640"/>
          </a:xfrm>
          <a:prstGeom prst="ellipse">
            <a:avLst/>
          </a:prstGeom>
          <a:solidFill>
            <a:srgbClr val="4682B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A1B2E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325880" y="4910328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3566160" y="4928616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0E243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749040" y="49286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hsl(207, 44%, 49%)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0" y="178308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EEF4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72600" y="1965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HSL?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23317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Hue-Saturation-Lightness makes it easy to create tints/shades of the same hue — just change the L value.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38404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 affects the whole element + children; the alpha channel (RGBA/HSLA) only affects that color.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926080" cy="2926080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2697480" y="2697480"/>
            <a:ext cx="27432" cy="12344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2514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families, sizing units, and text styling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Week 7  |  IT 201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 Families &amp; Font Stacks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10552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"Poppins", "Segoe UI", Arial, sans-serif;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4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3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Aa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New Roman, Georgia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30175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4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Sans-serif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566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Arial, Helvetica, Calibri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EEF4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Monospace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566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572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New, Consolas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end a font stack with a generic family as a fallback — if custom fonts fail to load, the browser still renders sensibly.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Units: px, %, em, rem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572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719072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pixel value — doesn't scale with user/browser settings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89720" y="1828800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0E24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89720" y="1828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572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249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706624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the parent element's font-size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89720" y="2816352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0E243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281635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572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1246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3694176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the current element's (or parent's) font-size — compounds when nested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89720" y="3803904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0E24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89720" y="380390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1.5em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00016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572B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700016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4681728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the root (&lt;html&gt;) font-size — predictable, recommended for accessibility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89720" y="4791456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0E243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89720" y="4791456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1.5rem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Text Styling Properties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854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| bold | 100–900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70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font-style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998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| italic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685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142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(unitless preferred)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5994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letter-spacing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9286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0.5px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18562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1854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| center | right | justify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6974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2770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0998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| line-through | none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611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3685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text-transform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0142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 | capitalize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526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45994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text-indent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9286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926080" cy="2926080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2697480" y="2697480"/>
            <a:ext cx="27432" cy="12344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2514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Fonts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beyond web-safe fonts with @font-face and Google Fonts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Week 7  |  IT 201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@font-face &amp; Google Fonts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with @font-face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286000"/>
            <a:ext cx="48828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@font-face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"Poppins";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src: url("poppins.woff2")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format("woff2");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400;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font-display: swap;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via Google Fonts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2286000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href="https://fonts.googleapis.com/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css2?family=Poppins&amp;display=swap"&gt;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36576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19672" y="3840480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font-family: "Poppins", sans-serif; }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font-display: swap shows a fallback font immediately, then swaps once the custom font loads — avoids invisible text while waiting.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926080" cy="2926080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2697480" y="2697480"/>
            <a:ext cx="27432" cy="12344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2514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images, positioning, and gradients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Week 7  |  IT 201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Properties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804672"/>
          </a:xfrm>
          <a:prstGeom prst="roundRect">
            <a:avLst>
              <a:gd name="adj" fmla="val 9091"/>
            </a:avLst>
          </a:prstGeom>
          <a:solidFill>
            <a:srgbClr val="EEF4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579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#f5f5f5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94960" cy="804672"/>
          </a:xfrm>
          <a:prstGeom prst="roundRect">
            <a:avLst>
              <a:gd name="adj" fmla="val 9091"/>
            </a:avLst>
          </a:prstGeom>
          <a:solidFill>
            <a:srgbClr val="EEF4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70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background-image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181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url("bg.jpg")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94960" cy="804672"/>
          </a:xfrm>
          <a:prstGeom prst="roundRect">
            <a:avLst>
              <a:gd name="adj" fmla="val 9091"/>
            </a:avLst>
          </a:prstGeom>
          <a:solidFill>
            <a:srgbClr val="EEF4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7307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background-repeat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782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no-repeat | repeat-x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737360"/>
            <a:ext cx="5394960" cy="804672"/>
          </a:xfrm>
          <a:prstGeom prst="roundRect">
            <a:avLst>
              <a:gd name="adj" fmla="val 9091"/>
            </a:avLst>
          </a:prstGeom>
          <a:solidFill>
            <a:srgbClr val="EEF4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background-position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1579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| 20px 40px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697480"/>
            <a:ext cx="5394960" cy="804672"/>
          </a:xfrm>
          <a:prstGeom prst="roundRect">
            <a:avLst>
              <a:gd name="adj" fmla="val 9091"/>
            </a:avLst>
          </a:prstGeom>
          <a:solidFill>
            <a:srgbClr val="EEF4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770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background-size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1181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| contain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394960" cy="804672"/>
          </a:xfrm>
          <a:prstGeom prst="roundRect">
            <a:avLst>
              <a:gd name="adj" fmla="val 9091"/>
            </a:avLst>
          </a:prstGeom>
          <a:solidFill>
            <a:srgbClr val="EEF4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37307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background-attachment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0782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| scroll</a:t>
            </a:r>
            <a:endParaRPr lang="en-US" sz="1100" dirty="0"/>
          </a:p>
        </p:txBody>
      </p:sp>
      <p:pic>
        <p:nvPicPr>
          <p:cNvPr id="22" name="Image 0" descr="gradient_s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09160"/>
            <a:ext cx="5394960" cy="6858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8640" y="47091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linear-gradient(90deg, #1572B6, #FF8A3D)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4892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Shorthand: background: #222 url(bg.jpg) no-repeat center / cover;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926080" cy="2926080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2697480" y="2697480"/>
            <a:ext cx="27432" cy="12344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2514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Widths, styles, colors, and rounded corners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Week 7  |  IT 201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 Styles &amp; border-radius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4882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border: 2px solid #1572B6;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border-top: 4px dashed #FF8A3D;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88720" cy="640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572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20240" y="3337560"/>
            <a:ext cx="1188720" cy="640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572B6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92024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3337560"/>
            <a:ext cx="1188720" cy="640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572B6"/>
            </a:solidFill>
            <a:prstDash val="sysDot"/>
          </a:ln>
        </p:spPr>
      </p:sp>
      <p:sp>
        <p:nvSpPr>
          <p:cNvPr id="11" name="Text 9"/>
          <p:cNvSpPr txBox="1"/>
          <p:nvPr/>
        </p:nvSpPr>
        <p:spPr>
          <a:xfrm>
            <a:off x="329184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3337560"/>
            <a:ext cx="1188720" cy="640080"/>
          </a:xfrm>
          <a:prstGeom prst="rect">
            <a:avLst/>
          </a:prstGeom>
          <a:solidFill>
            <a:srgbClr val="FFFFFF"/>
          </a:solidFill>
          <a:ln w="50800">
            <a:solidFill>
              <a:srgbClr val="1572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4023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 showcase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63640" y="2148840"/>
            <a:ext cx="1188720" cy="1188720"/>
          </a:xfrm>
          <a:prstGeom prst="roundRect">
            <a:avLst/>
          </a:prstGeom>
          <a:solidFill>
            <a:srgbClr val="1572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3429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214884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1572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35240" y="3429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2148840"/>
            <a:ext cx="1188720" cy="1188720"/>
          </a:xfrm>
          <a:prstGeom prst="roundRect">
            <a:avLst>
              <a:gd name="adj" fmla="val 26923"/>
            </a:avLst>
          </a:prstGeom>
          <a:solidFill>
            <a:srgbClr val="1572B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06840" y="3429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24px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378440" y="2148840"/>
            <a:ext cx="1188720" cy="1188720"/>
          </a:xfrm>
          <a:prstGeom prst="roundRect">
            <a:avLst>
              <a:gd name="adj" fmla="val 38462"/>
            </a:avLst>
          </a:prstGeom>
          <a:solidFill>
            <a:srgbClr val="1572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378440" y="3429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50%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9319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50% on a square element makes a perfect circle — the classic technique for circular avatars.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926080" cy="2926080"/>
          </a:xfrm>
          <a:prstGeom prst="ellipse">
            <a:avLst/>
          </a:prstGeom>
          <a:solidFill>
            <a:srgbClr val="0B4A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5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2697480" y="2697480"/>
            <a:ext cx="27432" cy="12344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71800" y="25146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depth with box-shadow and text-shadow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Week 7  |  IT 201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box-shadow &amp; text-shadow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20240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box-shadow: 0 4px 12px rgba(0,0,0,.25);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x  y  blur  spread  color */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34290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13233A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463040" y="34290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with box-shadow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E2438"/>
          </a:solidFill>
          <a:ln/>
          <a:effectLst>
            <a:outerShdw sx="100000" sy="100000" kx="0" ky="0" algn="bl" rotWithShape="0" blurRad="127000" dist="50800" dir="5400000">
              <a:srgbClr val="0A1B2E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1920240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1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text-shadow: 2px 2px 4px rgba(0,0,0,.5);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3429000"/>
            <a:ext cx="5394960" cy="155448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3429000"/>
            <a:ext cx="5394960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38100" dir="27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Shadowed Text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stack multiple shadows (comma-separated) for richer depth, or use inset for a pressed-in look.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LABORATORY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Activity: Style a Profile Card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a plain, unstyled HTML file, apply everything from today's session to build a polished profile card component.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10896" cy="310896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1671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 external stylesheet (styles.css)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310896" cy="310896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8254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≥3 selector types, incl. one pseudo-class (:hover)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57016"/>
            <a:ext cx="310896" cy="310896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34838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box-sizing: border-box globally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310896" cy="310896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41422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color palette (HEX or HSL)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2240280"/>
            <a:ext cx="310896" cy="310896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02552" y="21671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Google Font or @font-face to headings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2898648"/>
            <a:ext cx="310896" cy="310896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02552" y="28254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background (gradient or image)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557016"/>
            <a:ext cx="310896" cy="310896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63640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02552" y="34838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the avatar into a circle with border-radius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215384"/>
            <a:ext cx="310896" cy="310896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6364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02552" y="41422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box-shadow to the card and text-shadow to the name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A1B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1206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(20 pts): Selectors/Specificity 4 · Box Model 3 · Colors 3 · Typography/Web Fonts 4 · Backgrounds 2 · Borders 2 · Shadows 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20624" cy="420624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37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separates presentation from structure — external stylesheets are best practice.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9464"/>
            <a:ext cx="420624" cy="420624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23744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 resolves conflicts using importance, specificity, then source order.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420624" cy="420624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1012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 (content, padding, border, margin) underlies all CSS layout.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42232"/>
            <a:ext cx="420624" cy="420624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96512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color, type, and spacing choices are what make an interface feel professional.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420624" cy="420624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28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882896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fundamentals are the foundation for Week 8: Flexbox, Grid, and positioning.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Resources for This Topic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109728" cy="109728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CSS Reference — developer.mozilla.org/en-US/docs/Web/CSS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96312"/>
            <a:ext cx="109728" cy="109728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5000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 — css-tricks.com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109728" cy="109728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4436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CSS Tutorial — w3schools.com/css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85032"/>
            <a:ext cx="109728" cy="109728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5387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Duckett, J. (2014). HTML &amp; CSS: Design and Build Websites. Wiley.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79392"/>
            <a:ext cx="109728" cy="109728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13308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Freeman, E., &amp; Robson, E. (2020). Head First HTML and CSS (2nd ed.). O'Reilly.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73752"/>
            <a:ext cx="109728" cy="109728"/>
          </a:xfrm>
          <a:prstGeom prst="ellipse">
            <a:avLst/>
          </a:prstGeom>
          <a:solidFill>
            <a:srgbClr val="1572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274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Robbins, J. N. (2018). Learning Web Design (5th ed.). O'Reilly.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IT 201 – Internet Programming and Web Development  |  Week 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943600" cy="5943600"/>
          </a:xfrm>
          <a:prstGeom prst="ellipse">
            <a:avLst/>
          </a:prstGeom>
          <a:solidFill>
            <a:srgbClr val="112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CSS3 Layouts — Flexbox, Grid, Positioning, Variables, Transitions &amp; Animations (Week 8)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Fundamentals  |  Week 7  |  IT 201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2026-09-21T17:38:30Z</dcterms:created>
  <dcterms:modified xsi:type="dcterms:W3CDTF">2026-09-21T17:38:30Z</dcterms:modified>
</cp:coreProperties>
</file>